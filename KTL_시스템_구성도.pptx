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72000"/>
            <a:ext cx="115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KTL 정도검사 계산기 — 전체 시스템 구성도</a:t>
            </a:r>
          </a:p>
        </p:txBody>
      </p:sp>
      <p:sp>
        <p:nvSpPr>
          <p:cNvPr id="4" name="Rectangle 3"/>
          <p:cNvSpPr/>
          <p:nvPr/>
        </p:nvSpPr>
        <p:spPr>
          <a:xfrm>
            <a:off x="144000" y="468000"/>
            <a:ext cx="11844000" cy="2304000"/>
          </a:xfrm>
          <a:prstGeom prst="rect">
            <a:avLst/>
          </a:prstGeom>
          <a:solidFill>
            <a:srgbClr val="16243E"/>
          </a:solidFill>
          <a:ln w="12700">
            <a:solidFill>
              <a:srgbClr val="44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1999" y="486000"/>
            <a:ext cx="2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99AA"/>
                </a:solidFill>
              </a:rPr>
              <a:t>개발 환경</a:t>
            </a:r>
          </a:p>
        </p:txBody>
      </p:sp>
      <p:sp>
        <p:nvSpPr>
          <p:cNvPr id="6" name="Rectangle 5"/>
          <p:cNvSpPr/>
          <p:nvPr/>
        </p:nvSpPr>
        <p:spPr>
          <a:xfrm>
            <a:off x="216000" y="684000"/>
            <a:ext cx="2592000" cy="1908000"/>
          </a:xfrm>
          <a:prstGeom prst="rect">
            <a:avLst/>
          </a:prstGeom>
          <a:solidFill>
            <a:srgbClr val="2E4A7F"/>
          </a:solidFill>
          <a:ln w="12700">
            <a:solidFill>
              <a:srgbClr val="66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00" y="720000"/>
            <a:ext cx="244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D700"/>
                </a:solidFill>
              </a:rPr>
              <a:t>Antigravity IDE  (안티)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00" y="972000"/>
            <a:ext cx="2376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✦ 코드 편집 · 파일 탐색
✦ 터미널 통합
✦ Git 연동
✦ Claude Code 연동
✦ pyrefly (Python 분석)
→  git push  →  Vercel 자동 배포</a:t>
            </a:r>
          </a:p>
        </p:txBody>
      </p:sp>
      <p:sp>
        <p:nvSpPr>
          <p:cNvPr id="9" name="Rectangle 8"/>
          <p:cNvSpPr/>
          <p:nvPr/>
        </p:nvSpPr>
        <p:spPr>
          <a:xfrm>
            <a:off x="2988000" y="684000"/>
            <a:ext cx="3060000" cy="864000"/>
          </a:xfrm>
          <a:prstGeom prst="rect">
            <a:avLst/>
          </a:prstGeom>
          <a:solidFill>
            <a:srgbClr val="D97B3A"/>
          </a:solidFill>
          <a:ln w="12700">
            <a:solidFill>
              <a:srgbClr val="FFA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0000" y="720000"/>
            <a:ext cx="2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Claude Code  (AI 뇌)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0000" y="972000"/>
            <a:ext cx="28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✦ 자연어 ↔ 코드 변환
✦ 도구 호출 판단
✦ Vercel 배포 · 관리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88000" y="1620000"/>
            <a:ext cx="3060000" cy="1007999"/>
          </a:xfrm>
          <a:prstGeom prst="rect">
            <a:avLst/>
          </a:prstGeom>
          <a:solidFill>
            <a:srgbClr val="8B5CF6"/>
          </a:solidFill>
          <a:ln w="12700">
            <a:solidFill>
              <a:srgbClr val="AA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60000" y="1655999"/>
            <a:ext cx="28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ktl-calculator MCP  (12 Tools)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0000" y="1872000"/>
            <a:ext cx="2880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계산(1)  calculate_accuracy  오차율·합격 판정
DB  (3)  list_items · get_fee · get_sheet
법령(3)  search_laws · get_content · get_legal_basis
지식(4)  search_knowledge · get_node · status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999" y="684000"/>
            <a:ext cx="1728000" cy="827999"/>
          </a:xfrm>
          <a:prstGeom prst="rect">
            <a:avLst/>
          </a:prstGeom>
          <a:solidFill>
            <a:srgbClr val="1A3A2A"/>
          </a:solidFill>
          <a:ln w="12700">
            <a:solidFill>
              <a:srgbClr val="44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000" y="720000"/>
            <a:ext cx="158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ADE80"/>
                </a:solidFill>
              </a:rPr>
              <a:t>Excel DB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000" y="917999"/>
            <a:ext cx="15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Version11_(2026).xlsx
수수료 · 기준 · 항목
싱글턴 캐시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999" y="1584000"/>
            <a:ext cx="1728000" cy="720000"/>
          </a:xfrm>
          <a:prstGeom prst="rect">
            <a:avLst/>
          </a:prstGeom>
          <a:solidFill>
            <a:srgbClr val="2A1A3A"/>
          </a:solidFill>
          <a:ln w="12700">
            <a:solidFill>
              <a:srgbClr val="884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36000" y="1620000"/>
            <a:ext cx="158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0A0FF"/>
                </a:solidFill>
              </a:rPr>
              <a:t>law.go.kr DRF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6000" y="1818000"/>
            <a:ext cx="1584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XML 2.3 MB → 파싱 1.8 KB
99.9% 토큰 절감 · 1일 캐시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08000" y="684000"/>
            <a:ext cx="1872000" cy="1620000"/>
          </a:xfrm>
          <a:prstGeom prst="rect">
            <a:avLst/>
          </a:prstGeom>
          <a:solidFill>
            <a:srgbClr val="2A2A1A"/>
          </a:solidFill>
          <a:ln w="12700">
            <a:solidFill>
              <a:srgbClr val="AAA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80000" y="720000"/>
            <a:ext cx="172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D700"/>
                </a:solidFill>
              </a:rPr>
              <a:t>Obsidian KB  (knowledge/)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0000" y="936000"/>
            <a:ext cx="1728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7개 카테고리
  간이측정기 · 공통
  법령 · 성능시험
  정도검사 · 표준용액
  형식승인
35개+ .md 노드
[[링크]] 그래프 탐색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518000" y="1548000"/>
            <a:ext cx="0" cy="72000"/>
          </a:xfrm>
          <a:prstGeom prst="line">
            <a:avLst/>
          </a:prstGeom>
          <a:ln w="25400">
            <a:solidFill>
              <a:srgbClr val="FF99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6048000" y="1080000"/>
            <a:ext cx="215999" cy="828000"/>
          </a:xfrm>
          <a:prstGeom prst="line">
            <a:avLst/>
          </a:prstGeom>
          <a:ln w="19050">
            <a:solidFill>
              <a:srgbClr val="4ADE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048000" y="1944000"/>
            <a:ext cx="215999" cy="108000"/>
          </a:xfrm>
          <a:prstGeom prst="line">
            <a:avLst/>
          </a:prstGeom>
          <a:ln w="19050">
            <a:solidFill>
              <a:srgbClr val="C0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6048000" y="1440000"/>
            <a:ext cx="2160000" cy="360000"/>
          </a:xfrm>
          <a:prstGeom prst="line">
            <a:avLst/>
          </a:prstGeom>
          <a:ln w="1905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144000" y="2916000"/>
            <a:ext cx="7740000" cy="1728000"/>
          </a:xfrm>
          <a:prstGeom prst="rect">
            <a:avLst/>
          </a:prstGeom>
          <a:solidFill>
            <a:srgbClr val="10101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1999" y="2951999"/>
            <a:ext cx="28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Vercel  (icn1 · 서울)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6000" y="3186000"/>
            <a:ext cx="1872000" cy="1296000"/>
          </a:xfrm>
          <a:prstGeom prst="rect">
            <a:avLst/>
          </a:prstGeom>
          <a:solidFill>
            <a:srgbClr val="1A1A2A"/>
          </a:solidFill>
          <a:ln w="12700">
            <a:solidFill>
              <a:srgbClr val="5555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8000" y="3221999"/>
            <a:ext cx="172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AABBFF"/>
                </a:solidFill>
              </a:rPr>
              <a:t>CDN  (정적)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8000" y="3438000"/>
            <a:ext cx="17280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dist/  (Vite 빌드)
HTML · JS · CSS
번들 포함:
  Excel DB (.xlsx)
  KB (.md × 35)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68000" y="3186000"/>
            <a:ext cx="5472000" cy="1296000"/>
          </a:xfrm>
          <a:prstGeom prst="rect">
            <a:avLst/>
          </a:prstGeom>
          <a:solidFill>
            <a:srgbClr val="1A1A2A"/>
          </a:solidFill>
          <a:ln w="12700">
            <a:solidFill>
              <a:srgbClr val="5555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40000" y="3221999"/>
            <a:ext cx="532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AABBFF"/>
                </a:solidFill>
              </a:rPr>
              <a:t>Serverless Functions  (api/)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40000" y="3438000"/>
            <a:ext cx="52200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/api/auth          로그인 · 토큰 검증
/api/lawChat       법령 AI 챗봇  (Obsidian + law.go.kr + Gemini)
/api/gemini        범용 AI 프록시
/api/lawSearch     법령명 검색  (law.go.kr XML)
/api/legalBasis    항목별 정도검사 근거 · 기준
/api/calcData      계산 결과 저장 · 불러오기  (→ Mac Studio)
/api/db/status     Excel DB 상태  /  /api/admin  관리자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00000" y="2916000"/>
            <a:ext cx="1980000" cy="827999"/>
          </a:xfrm>
          <a:prstGeom prst="rect">
            <a:avLst/>
          </a:prstGeom>
          <a:solidFill>
            <a:srgbClr val="1A2A3A"/>
          </a:solidFill>
          <a:ln w="12700">
            <a:solidFill>
              <a:srgbClr val="448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72000" y="2951999"/>
            <a:ext cx="1835999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6BBFF"/>
                </a:solidFill>
              </a:rPr>
              <a:t>Gemini 2.5 Flash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72000" y="3186000"/>
            <a:ext cx="1835999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Google AI API
lawChat 답변 생성
범용 AI 프록시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00000" y="3816000"/>
            <a:ext cx="1980000" cy="827999"/>
          </a:xfrm>
          <a:prstGeom prst="rect">
            <a:avLst/>
          </a:prstGeom>
          <a:solidFill>
            <a:srgbClr val="1A2A3A"/>
          </a:solidFill>
          <a:ln w="12700">
            <a:solidFill>
              <a:srgbClr val="448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72000" y="3851999"/>
            <a:ext cx="1835999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6BBFF"/>
                </a:solidFill>
              </a:rPr>
              <a:t>law.go.kr  국가법령정보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72000" y="4086000"/>
            <a:ext cx="1835999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실시간 법령 조회
조문 XML 수신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740000" y="3311999"/>
            <a:ext cx="360000" cy="0"/>
          </a:xfrm>
          <a:prstGeom prst="line">
            <a:avLst/>
          </a:prstGeom>
          <a:ln w="19050">
            <a:solidFill>
              <a:srgbClr val="448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740000" y="3780000"/>
            <a:ext cx="360000" cy="180000"/>
          </a:xfrm>
          <a:prstGeom prst="line">
            <a:avLst/>
          </a:prstGeom>
          <a:ln w="19050">
            <a:solidFill>
              <a:srgbClr val="448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144000" y="4788000"/>
            <a:ext cx="7740000" cy="1728000"/>
          </a:xfrm>
          <a:prstGeom prst="rect">
            <a:avLst/>
          </a:prstGeom>
          <a:solidFill>
            <a:srgbClr val="1A4A3A"/>
          </a:solidFill>
          <a:ln w="12700">
            <a:solidFill>
              <a:srgbClr val="44CC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51999" y="4824000"/>
            <a:ext cx="36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ADE80"/>
                </a:solidFill>
              </a:rPr>
              <a:t>Mac Studio  (로컬 · pm2 상시 실행)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6000" y="5058000"/>
            <a:ext cx="3528000" cy="1296000"/>
          </a:xfrm>
          <a:prstGeom prst="rect">
            <a:avLst/>
          </a:prstGeom>
          <a:solidFill>
            <a:srgbClr val="123222"/>
          </a:solidFill>
          <a:ln w="12700">
            <a:solidFill>
              <a:srgbClr val="339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88000" y="5094000"/>
            <a:ext cx="338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ADE80"/>
                </a:solidFill>
              </a:rPr>
              <a:t>parser-server  :3333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88000" y="5310000"/>
            <a:ext cx="33840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사진 OCR · 파싱
작업 상태 관리
대시보드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960000" y="5058000"/>
            <a:ext cx="3780000" cy="1296000"/>
          </a:xfrm>
          <a:prstGeom prst="rect">
            <a:avLst/>
          </a:prstGeom>
          <a:solidFill>
            <a:srgbClr val="123222"/>
          </a:solidFill>
          <a:ln w="12700">
            <a:solidFill>
              <a:srgbClr val="339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031999" y="5094000"/>
            <a:ext cx="3636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ADE80"/>
                </a:solidFill>
              </a:rPr>
              <a:t>mac-studio-server  :3456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31999" y="5310000"/>
            <a:ext cx="36360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calc_data  (SQLite DB)
계산 결과 저장 · 불러오기
locations  현장 위치 조회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100000" y="4788000"/>
            <a:ext cx="1980000" cy="1728000"/>
          </a:xfrm>
          <a:prstGeom prst="rect">
            <a:avLst/>
          </a:prstGeom>
          <a:solidFill>
            <a:srgbClr val="2A1A0A"/>
          </a:solidFill>
          <a:ln w="127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172000" y="4824000"/>
            <a:ext cx="1835999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9944"/>
                </a:solidFill>
              </a:rPr>
              <a:t>⚠️  cloudflared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72000" y="5058000"/>
            <a:ext cx="1835999" cy="13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quick tunnel
(재시작마다 URL 변경)
현재:
*.trycloudflare.com
→ Named Tunnel
  전환 권장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4014000" y="4644000"/>
            <a:ext cx="0" cy="144000"/>
          </a:xfrm>
          <a:prstGeom prst="line">
            <a:avLst/>
          </a:prstGeom>
          <a:ln w="25400">
            <a:solidFill>
              <a:srgbClr val="4ADE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10296000" y="468000"/>
            <a:ext cx="1728000" cy="6048000"/>
          </a:xfrm>
          <a:prstGeom prst="rect">
            <a:avLst/>
          </a:prstGeom>
          <a:solidFill>
            <a:srgbClr val="0A223A"/>
          </a:solidFill>
          <a:ln w="12700">
            <a:solidFill>
              <a:srgbClr val="44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368000" y="540000"/>
            <a:ext cx="158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6CCFF"/>
                </a:solidFill>
              </a:rPr>
              <a:t>웹 사용자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368000" y="792000"/>
            <a:ext cx="158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99AA"/>
                </a:solidFill>
              </a:rPr>
              <a:t>현장 엔지니어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368000" y="1080000"/>
            <a:ext cx="1512000" cy="5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브라우저
calculator-
snowy-eight-
87.vercel.app
✦ 정도검사
   계산
✦ 법령 AI
   챗봇
✦ 계산 결과
   저장·불러
   오기
✦ 성적서
   Claydox
   전송</a:t>
            </a:r>
          </a:p>
        </p:txBody>
      </p:sp>
      <p:cxnSp>
        <p:nvCxnSpPr>
          <p:cNvPr id="60" name="Connector 59"/>
          <p:cNvCxnSpPr/>
          <p:nvPr/>
        </p:nvCxnSpPr>
        <p:spPr>
          <a:xfrm flipH="1">
            <a:off x="7883999" y="3420000"/>
            <a:ext cx="2412001" cy="0"/>
          </a:xfrm>
          <a:prstGeom prst="line">
            <a:avLst/>
          </a:prstGeom>
          <a:ln w="25400">
            <a:solidFill>
              <a:srgbClr val="44AA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144000" y="6606000"/>
            <a:ext cx="10080000" cy="198000"/>
          </a:xfrm>
          <a:prstGeom prst="rect">
            <a:avLst/>
          </a:prstGeom>
          <a:solidFill>
            <a:srgbClr val="0A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16000" y="6623999"/>
            <a:ext cx="990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99AA"/>
                </a:solidFill>
              </a:rPr>
              <a:t>  🟠 Claude Code (AI)     🟣 MCP 12 Tools     ⚫ Vercel 서버리스     🟢 Mac Studio 로컬     🔵 웹 사용자 (HTTPS)     ⚠️ cloudflared 주의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