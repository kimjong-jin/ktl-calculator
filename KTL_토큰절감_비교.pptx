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6800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72000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AI 토큰 사용량 비교  —  최적화 전 vs 현재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000" y="540000"/>
            <a:ext cx="5688000" cy="3780000"/>
          </a:xfrm>
          <a:prstGeom prst="rect">
            <a:avLst/>
          </a:prstGeom>
          <a:solidFill>
            <a:srgbClr val="16243E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999" y="594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D00"/>
                </a:solidFill>
              </a:rPr>
              <a:t>① 법령 데이터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999" y="900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4444"/>
                </a:solidFill>
              </a:rPr>
              <a:t>그냥 썼을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999" y="2015999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</a:rPr>
              <a:t>지금 적용 (MCP 파싱)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999" y="1116000"/>
            <a:ext cx="4968000" cy="648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000" y="1188000"/>
            <a:ext cx="46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law.go.kr XML 원본  →  AI에 직접 전달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" y="1386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500,000 토큰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999" y="1800000"/>
            <a:ext cx="49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9922"/>
                </a:solidFill>
              </a:rPr>
              <a:t>⚠️  Claude 200k 컨텍스트 초과  →  처리 자체가 불가능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999" y="2232000"/>
            <a:ext cx="61200" cy="648000"/>
          </a:xfrm>
          <a:prstGeom prst="rect">
            <a:avLst/>
          </a:prstGeom>
          <a:solidFill>
            <a:srgbClr val="16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999" y="2232000"/>
            <a:ext cx="4968000" cy="648000"/>
          </a:xfrm>
          <a:prstGeom prst="rect">
            <a:avLst/>
          </a:prstGeom>
          <a:solidFill>
            <a:srgbClr val="0A3018"/>
          </a:solidFill>
          <a:ln w="127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23040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XML 2.3MB  →  파싱  →  1.8KB JSON만 전달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2502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CC66"/>
                </a:solidFill>
              </a:rPr>
              <a:t>600 토큰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0000" y="2340000"/>
            <a:ext cx="1548000" cy="468000"/>
          </a:xfrm>
          <a:prstGeom prst="rect">
            <a:avLst/>
          </a:prstGeom>
          <a:solidFill>
            <a:srgbClr val="0A4020"/>
          </a:solidFill>
          <a:ln w="127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1999" y="2394000"/>
            <a:ext cx="14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C66"/>
                </a:solidFill>
              </a:rPr>
              <a:t>99.9% 절감
833배 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99" y="29880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AA"/>
                </a:solidFill>
              </a:rPr>
              <a:t>2,341,547 bytes  →  1,833 bytes  /  41,737줄  →  36줄  /  1일 캐시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12000" y="540000"/>
            <a:ext cx="6048000" cy="3780000"/>
          </a:xfrm>
          <a:prstGeom prst="rect">
            <a:avLst/>
          </a:prstGeom>
          <a:solidFill>
            <a:srgbClr val="16243E"/>
          </a:solidFill>
          <a:ln w="12700">
            <a:solidFill>
              <a:srgbClr val="44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0" y="594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D00"/>
                </a:solidFill>
              </a:rPr>
              <a:t>② lawChat  —  요청당 AI 입력 토큰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900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4444"/>
                </a:solidFill>
              </a:rPr>
              <a:t>그냥 썼을 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0" y="1116000"/>
            <a:ext cx="4968000" cy="576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87999" y="1116000"/>
            <a:ext cx="64800" cy="576000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52799" y="1116000"/>
            <a:ext cx="107784" cy="576000"/>
          </a:xfrm>
          <a:prstGeom prst="rect">
            <a:avLst/>
          </a:prstGeom>
          <a:solidFill>
            <a:srgbClr val="66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260583" y="1116000"/>
            <a:ext cx="108000" cy="576000"/>
          </a:xfrm>
          <a:prstGeom prst="rect">
            <a:avLst/>
          </a:prstGeom>
          <a:solidFill>
            <a:srgbClr val="44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0000" y="1728000"/>
            <a:ext cx="54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9AA"/>
                </a:solidFill>
              </a:rPr>
              <a:t>Obsidian 35노드 23,000  +  법령 300  +  시스템 499  +  히스토리 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1908000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4444"/>
                </a:solidFill>
              </a:rPr>
              <a:t>총  24,300 토큰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0000" y="2268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</a:rPr>
              <a:t>지금 적용 (RAG 최적화)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2520000"/>
            <a:ext cx="323999" cy="576000"/>
          </a:xfrm>
          <a:prstGeom prst="rect">
            <a:avLst/>
          </a:prstGeom>
          <a:solidFill>
            <a:srgbClr val="168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3999" y="2520000"/>
            <a:ext cx="64800" cy="576000"/>
          </a:xfrm>
          <a:prstGeom prst="rect">
            <a:avLst/>
          </a:prstGeom>
          <a:solidFill>
            <a:srgbClr val="00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08799" y="2520000"/>
            <a:ext cx="107784" cy="57600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16583" y="2520000"/>
            <a:ext cx="108000" cy="576000"/>
          </a:xfrm>
          <a:prstGeom prst="rect">
            <a:avLst/>
          </a:prstGeom>
          <a:solidFill>
            <a:srgbClr val="00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0000" y="3114000"/>
            <a:ext cx="54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99AA"/>
                </a:solidFill>
              </a:rPr>
              <a:t>Obsidian 5노드 1,500  +  법령 300  +  시스템 499  +  히스토리 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3311999"/>
            <a:ext cx="2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C66"/>
                </a:solidFill>
              </a:rPr>
              <a:t>총  2,800 토큰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40000" y="2592000"/>
            <a:ext cx="1980000" cy="503999"/>
          </a:xfrm>
          <a:prstGeom prst="rect">
            <a:avLst/>
          </a:prstGeom>
          <a:solidFill>
            <a:srgbClr val="0A4020"/>
          </a:solidFill>
          <a:ln w="127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2000" y="2656800"/>
            <a:ext cx="183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CC66"/>
                </a:solidFill>
              </a:rPr>
              <a:t>88% 절감
8.7배 차이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4000" y="4428000"/>
            <a:ext cx="11807999" cy="324000"/>
          </a:xfrm>
          <a:prstGeom prst="rect">
            <a:avLst/>
          </a:prstGeom>
          <a:solidFill>
            <a:srgbClr val="1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1999" y="4482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99AA"/>
                </a:solidFill>
              </a:rPr>
              <a:t>■ Obsidian 지식     ■ law.go.kr 조문     ■ 시스템 프롬프트     ■ 대화 히스토리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000" y="4824000"/>
            <a:ext cx="115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D00"/>
                </a:solidFill>
              </a:rPr>
              <a:t>전체 요약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000" y="5076000"/>
            <a:ext cx="3671999" cy="1584000"/>
          </a:xfrm>
          <a:prstGeom prst="rect">
            <a:avLst/>
          </a:prstGeom>
          <a:solidFill>
            <a:srgbClr val="200808"/>
          </a:solidFill>
          <a:ln w="127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999" y="5148000"/>
            <a:ext cx="34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4444"/>
                </a:solidFill>
              </a:rPr>
              <a:t>최적화 없이 쓴다면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999" y="5418000"/>
            <a:ext cx="345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법령 XML 전체
→ 500,000 토큰
→ 컨텍스트 초과
→ 처리 불가  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8000" y="5076000"/>
            <a:ext cx="3780000" cy="1584000"/>
          </a:xfrm>
          <a:prstGeom prst="rect">
            <a:avLst/>
          </a:prstGeom>
          <a:solidFill>
            <a:srgbClr val="201400"/>
          </a:solidFill>
          <a:ln w="12700">
            <a:solidFill>
              <a:srgbClr val="FF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6000" y="514800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22"/>
                </a:solidFill>
              </a:rPr>
              <a:t>RAG만 적용 (최적화 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6000" y="5418000"/>
            <a:ext cx="35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Obsidian 35노드 폭발
→ 24,300 토큰
→ 동작하지만 낭비
→ 개선 필요  ⚠️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6000" y="5076000"/>
            <a:ext cx="3888000" cy="1584000"/>
          </a:xfrm>
          <a:prstGeom prst="rect">
            <a:avLst/>
          </a:prstGeom>
          <a:solidFill>
            <a:srgbClr val="042010"/>
          </a:solidFill>
          <a:ln w="127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43999" y="5148000"/>
            <a:ext cx="3671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66"/>
                </a:solidFill>
              </a:rPr>
              <a:t>현재 적용 (MCP + RAG 최적화)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3999" y="5418000"/>
            <a:ext cx="367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파싱 + 노드 제한
→ 2,800 토큰
→ 원본 대비 99% 절감
→ 최적 상태  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0000" y="6696000"/>
            <a:ext cx="117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D00"/>
                </a:solidFill>
              </a:rPr>
              <a:t>법령 원본 500,000 토큰  →  MCP 파싱 600 토큰  (99.9% 절감)   |   lawChat 24,300 토큰  →  2,800 토큰  (88% 절감)   |   종합 절감률 약 99%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