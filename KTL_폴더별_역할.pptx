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B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6D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11160000" cy="360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맑은 고딕"/>
              </a:rPr>
              <a:t>KTL Workspace 프로젝트 한눈에 — 폴더별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576000"/>
            <a:ext cx="11160000" cy="251999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ABCD0"/>
                </a:solidFill>
                <a:latin typeface="맑은 고딕"/>
              </a:rPr>
              <a:t>사진 수집 ▶ 정밀 계산 ▶ 법령 해석  +  이를 떠받치는 인프라·도구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000" y="972000"/>
            <a:ext cx="4752000" cy="3024000"/>
          </a:xfrm>
          <a:prstGeom prst="roundRect">
            <a:avLst/>
          </a:prstGeom>
          <a:solidFill>
            <a:srgbClr val="0B1222"/>
          </a:solidFill>
          <a:ln w="19050">
            <a:solidFill>
              <a:srgbClr val="2F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4000" y="972000"/>
            <a:ext cx="4752000" cy="342000"/>
          </a:xfrm>
          <a:prstGeom prst="round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" y="990000"/>
            <a:ext cx="4752000" cy="324000"/>
          </a:xfrm>
          <a:prstGeom prst="rect">
            <a:avLst/>
          </a:prstGeom>
          <a:noFill/>
        </p:spPr>
        <p:txBody>
          <a:bodyPr wrap="square" anchor="ctr" lIns="28800" rIns="28800" tIns="7200" bIns="72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222"/>
                </a:solidFill>
                <a:latin typeface="맑은 고딕"/>
              </a:rPr>
              <a:t>① 데이터 수집 · OCR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000" y="1404000"/>
            <a:ext cx="4500000" cy="786000"/>
          </a:xfrm>
          <a:prstGeom prst="roundRect">
            <a:avLst/>
          </a:prstGeom>
          <a:solidFill>
            <a:srgbClr val="101B30"/>
          </a:solidFill>
          <a:ln w="12700">
            <a:solidFill>
              <a:srgbClr val="2C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0000" y="1404000"/>
            <a:ext cx="54000" cy="786000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1458000"/>
            <a:ext cx="4302000" cy="216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📱 photo-ocr-app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1684800"/>
            <a:ext cx="4302000" cy="480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ABCD0"/>
                </a:solidFill>
                <a:latin typeface="맑은 고딕"/>
              </a:rPr>
              <a:t>└ 사진 한 장으로 측정값 자동 추출 (사람이 안 침)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000" y="2280000"/>
            <a:ext cx="4500000" cy="786000"/>
          </a:xfrm>
          <a:prstGeom prst="roundRect">
            <a:avLst/>
          </a:prstGeom>
          <a:solidFill>
            <a:srgbClr val="101B30"/>
          </a:solidFill>
          <a:ln w="12700">
            <a:solidFill>
              <a:srgbClr val="2C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0000" y="2280000"/>
            <a:ext cx="54000" cy="786000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00" y="2334000"/>
            <a:ext cx="4302000" cy="216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🗄 parser-photo-server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2560800"/>
            <a:ext cx="4302000" cy="480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ABCD0"/>
                </a:solidFill>
                <a:latin typeface="맑은 고딕"/>
              </a:rPr>
              <a:t>└ 사진·OCR 데이터 창고 + 교환소 (오프라인 저장·조회)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0000" y="3156000"/>
            <a:ext cx="4500000" cy="786000"/>
          </a:xfrm>
          <a:prstGeom prst="roundRect">
            <a:avLst/>
          </a:prstGeom>
          <a:solidFill>
            <a:srgbClr val="101B30"/>
          </a:solidFill>
          <a:ln w="12700">
            <a:solidFill>
              <a:srgbClr val="2C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0000" y="3156000"/>
            <a:ext cx="54000" cy="786000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00" y="3210000"/>
            <a:ext cx="4302000" cy="216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🤖 parser-orchestrator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00" y="3436800"/>
            <a:ext cx="4302000" cy="480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ABCD0"/>
                </a:solidFill>
                <a:latin typeface="맑은 고딕"/>
              </a:rPr>
              <a:t>└ AI(Gemini) 호출을 순서대로 안전하게 (한도초과·실패 방지)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84000" y="972000"/>
            <a:ext cx="3060000" cy="3024000"/>
          </a:xfrm>
          <a:prstGeom prst="roundRect">
            <a:avLst/>
          </a:prstGeom>
          <a:solidFill>
            <a:srgbClr val="0B1222"/>
          </a:solidFill>
          <a:ln w="19050">
            <a:solidFill>
              <a:srgbClr val="1F9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84000" y="972000"/>
            <a:ext cx="3060000" cy="342000"/>
          </a:xfrm>
          <a:prstGeom prst="roundRect">
            <a:avLst/>
          </a:prstGeom>
          <a:solidFill>
            <a:srgbClr val="1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84000" y="990000"/>
            <a:ext cx="3060000" cy="324000"/>
          </a:xfrm>
          <a:prstGeom prst="rect">
            <a:avLst/>
          </a:prstGeom>
          <a:noFill/>
        </p:spPr>
        <p:txBody>
          <a:bodyPr wrap="square" anchor="ctr" lIns="28800" rIns="28800" tIns="7200" bIns="72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222"/>
                </a:solidFill>
                <a:latin typeface="맑은 고딕"/>
              </a:rPr>
              <a:t>② 정밀 계산 · 판정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10000" y="1404000"/>
            <a:ext cx="2808000" cy="2538000"/>
          </a:xfrm>
          <a:prstGeom prst="roundRect">
            <a:avLst/>
          </a:prstGeom>
          <a:solidFill>
            <a:srgbClr val="101B30"/>
          </a:solidFill>
          <a:ln w="12700">
            <a:solidFill>
              <a:srgbClr val="2C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10000" y="1404000"/>
            <a:ext cx="54000" cy="2538000"/>
          </a:xfrm>
          <a:prstGeom prst="rect">
            <a:avLst/>
          </a:prstGeom>
          <a:solidFill>
            <a:srgbClr val="1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36000" y="1458000"/>
            <a:ext cx="2610000" cy="216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🧮 calculator-main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6000" y="1684800"/>
            <a:ext cx="2610000" cy="2232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ABCD0"/>
                </a:solidFill>
                <a:latin typeface="맑은 고딕"/>
              </a:rPr>
              <a:t>└ 추출된 값으로 정도검사 판정</a:t>
            </a:r>
          </a:p>
          <a:p>
            <a:pPr algn="l">
              <a:lnSpc>
                <a:spcPct val="105000"/>
              </a:lnSpc>
            </a:pPr>
            <a:r>
              <a:rPr sz="900" b="0">
                <a:solidFill>
                  <a:srgbClr val="AABCD0"/>
                </a:solidFill>
                <a:latin typeface="맑은 고딕"/>
              </a:rPr>
              <a:t>(반복성·드리프트·직선성·현장적용계수)</a:t>
            </a:r>
          </a:p>
          <a:p>
            <a:pPr algn="l">
              <a:lnSpc>
                <a:spcPct val="105000"/>
              </a:lnSpc>
            </a:pPr>
            <a:r>
              <a:rPr sz="900" b="0">
                <a:solidFill>
                  <a:srgbClr val="AABCD0"/>
                </a:solidFill>
                <a:latin typeface="맑은 고딕"/>
              </a:rPr>
              <a:t>엑셀 기준 그대로 + AI 법령 챗봇 임베디드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52000" y="972000"/>
            <a:ext cx="3491999" cy="3024000"/>
          </a:xfrm>
          <a:prstGeom prst="roundRect">
            <a:avLst/>
          </a:prstGeom>
          <a:solidFill>
            <a:srgbClr val="0B1222"/>
          </a:solidFill>
          <a:ln w="1905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52000" y="972000"/>
            <a:ext cx="3491999" cy="342000"/>
          </a:xfrm>
          <a:prstGeom prst="round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2000" y="990000"/>
            <a:ext cx="3491999" cy="324000"/>
          </a:xfrm>
          <a:prstGeom prst="rect">
            <a:avLst/>
          </a:prstGeom>
          <a:noFill/>
        </p:spPr>
        <p:txBody>
          <a:bodyPr wrap="square" anchor="ctr" lIns="28800" rIns="28800" tIns="7200" bIns="72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222"/>
                </a:solidFill>
                <a:latin typeface="맑은 고딕"/>
              </a:rPr>
              <a:t>③ 법령 해석 챗봇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78000" y="1404000"/>
            <a:ext cx="3240000" cy="1224000"/>
          </a:xfrm>
          <a:prstGeom prst="roundRect">
            <a:avLst/>
          </a:prstGeom>
          <a:solidFill>
            <a:srgbClr val="101B30"/>
          </a:solidFill>
          <a:ln w="12700">
            <a:solidFill>
              <a:srgbClr val="2C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78000" y="1404000"/>
            <a:ext cx="54000" cy="122400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04000" y="1458000"/>
            <a:ext cx="3041999" cy="216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⚖️ law-api-vercel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04000" y="1684800"/>
            <a:ext cx="3041999" cy="918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ABCD0"/>
                </a:solidFill>
                <a:latin typeface="맑은 고딕"/>
              </a:rPr>
              <a:t>└ 환경부 고시·물환경보전법을 검색용 지식으로 가공해 챗봇에 공급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78000" y="2718000"/>
            <a:ext cx="3240000" cy="1224000"/>
          </a:xfrm>
          <a:prstGeom prst="roundRect">
            <a:avLst/>
          </a:prstGeom>
          <a:solidFill>
            <a:srgbClr val="101B30"/>
          </a:solidFill>
          <a:ln w="12700">
            <a:solidFill>
              <a:srgbClr val="2C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78000" y="2718000"/>
            <a:ext cx="54000" cy="122400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04000" y="2772000"/>
            <a:ext cx="3041999" cy="216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🔌 law-mcp-server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04000" y="2998800"/>
            <a:ext cx="3041999" cy="918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ABCD0"/>
                </a:solidFill>
                <a:latin typeface="맑은 고딕"/>
              </a:rPr>
              <a:t>└ AI가 법령을 직접 조회하게 노출 (MCP)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4000" y="4284000"/>
            <a:ext cx="11520000" cy="2268000"/>
          </a:xfrm>
          <a:prstGeom prst="roundRect">
            <a:avLst/>
          </a:prstGeom>
          <a:solidFill>
            <a:srgbClr val="0B1222"/>
          </a:solidFill>
          <a:ln w="19050">
            <a:solidFill>
              <a:srgbClr val="C29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24000" y="4284000"/>
            <a:ext cx="11520000" cy="324000"/>
          </a:xfrm>
          <a:prstGeom prst="roundRect">
            <a:avLst/>
          </a:prstGeom>
          <a:solidFill>
            <a:srgbClr val="C2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4000" y="4284000"/>
            <a:ext cx="11520000" cy="324000"/>
          </a:xfrm>
          <a:prstGeom prst="rect">
            <a:avLst/>
          </a:prstGeom>
          <a:noFill/>
        </p:spPr>
        <p:txBody>
          <a:bodyPr wrap="square" anchor="ctr" lIns="28800" rIns="28800" tIns="7200" bIns="72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222"/>
                </a:solidFill>
                <a:latin typeface="맑은 고딕"/>
              </a:rPr>
              <a:t>④ 인프라 · 관리 · 도구 — 파이프라인을 떠받치는 받침대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0000" y="4698000"/>
            <a:ext cx="3636000" cy="846000"/>
          </a:xfrm>
          <a:prstGeom prst="roundRect">
            <a:avLst/>
          </a:prstGeom>
          <a:solidFill>
            <a:srgbClr val="101B30"/>
          </a:solidFill>
          <a:ln w="12700">
            <a:solidFill>
              <a:srgbClr val="2C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0000" y="4698000"/>
            <a:ext cx="54000" cy="846000"/>
          </a:xfrm>
          <a:prstGeom prst="rect">
            <a:avLst/>
          </a:prstGeom>
          <a:solidFill>
            <a:srgbClr val="C2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00" y="4752000"/>
            <a:ext cx="3437999" cy="216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💻 mac-studio-server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00" y="4978800"/>
            <a:ext cx="3437999" cy="540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ABCD0"/>
                </a:solidFill>
                <a:latin typeface="맑은 고딕"/>
              </a:rPr>
              <a:t>└ 로컬 동기화·SQLite 백업·Vercel 프록시 중계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66000" y="4698000"/>
            <a:ext cx="3636000" cy="846000"/>
          </a:xfrm>
          <a:prstGeom prst="roundRect">
            <a:avLst/>
          </a:prstGeom>
          <a:solidFill>
            <a:srgbClr val="101B30"/>
          </a:solidFill>
          <a:ln w="12700">
            <a:solidFill>
              <a:srgbClr val="2C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66000" y="4698000"/>
            <a:ext cx="54000" cy="846000"/>
          </a:xfrm>
          <a:prstGeom prst="rect">
            <a:avLst/>
          </a:prstGeom>
          <a:solidFill>
            <a:srgbClr val="C2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92000" y="4752000"/>
            <a:ext cx="3437999" cy="216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📅 schedule-manager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92000" y="4978800"/>
            <a:ext cx="3437999" cy="540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ABCD0"/>
                </a:solidFill>
                <a:latin typeface="맑은 고딕"/>
              </a:rPr>
              <a:t>└ 사업장 정도검사 일정 관리 대시보드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82000" y="4698000"/>
            <a:ext cx="3636000" cy="846000"/>
          </a:xfrm>
          <a:prstGeom prst="roundRect">
            <a:avLst/>
          </a:prstGeom>
          <a:solidFill>
            <a:srgbClr val="101B30"/>
          </a:solidFill>
          <a:ln w="12700">
            <a:solidFill>
              <a:srgbClr val="2C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82000" y="4698000"/>
            <a:ext cx="54000" cy="846000"/>
          </a:xfrm>
          <a:prstGeom prst="rect">
            <a:avLst/>
          </a:prstGeom>
          <a:solidFill>
            <a:srgbClr val="6D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08000" y="4752000"/>
            <a:ext cx="3437999" cy="216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🛡 harness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08000" y="4978800"/>
            <a:ext cx="3437999" cy="540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ABCD0"/>
                </a:solidFill>
                <a:latin typeface="맑은 고딕"/>
              </a:rPr>
              <a:t>└ AI 워커(Claude·Codex) 승인·격리 통제 샌드박스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0000" y="5670000"/>
            <a:ext cx="3636000" cy="846000"/>
          </a:xfrm>
          <a:prstGeom prst="roundRect">
            <a:avLst/>
          </a:prstGeom>
          <a:solidFill>
            <a:srgbClr val="101B30"/>
          </a:solidFill>
          <a:ln w="12700">
            <a:solidFill>
              <a:srgbClr val="2C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0000" y="5670000"/>
            <a:ext cx="54000" cy="846000"/>
          </a:xfrm>
          <a:prstGeom prst="rect">
            <a:avLst/>
          </a:prstGeom>
          <a:solidFill>
            <a:srgbClr val="1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000" y="5724000"/>
            <a:ext cx="3437999" cy="216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📤 subunsuk-sender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00" y="5950800"/>
            <a:ext cx="3437999" cy="540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ABCD0"/>
                </a:solidFill>
                <a:latin typeface="맑은 고딕"/>
              </a:rPr>
              <a:t>└ 수분석 결과 Claydox 전송 + 카카오 알림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66000" y="5670000"/>
            <a:ext cx="3636000" cy="846000"/>
          </a:xfrm>
          <a:prstGeom prst="roundRect">
            <a:avLst/>
          </a:prstGeom>
          <a:solidFill>
            <a:srgbClr val="101B30"/>
          </a:solidFill>
          <a:ln w="12700">
            <a:solidFill>
              <a:srgbClr val="2C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266000" y="5670000"/>
            <a:ext cx="54000" cy="846000"/>
          </a:xfrm>
          <a:prstGeom prst="rect">
            <a:avLst/>
          </a:prstGeom>
          <a:solidFill>
            <a:srgbClr val="C2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92000" y="5724000"/>
            <a:ext cx="3437999" cy="216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🔒 수분석 내부망 exe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92000" y="5950800"/>
            <a:ext cx="3437999" cy="540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ABCD0"/>
                </a:solidFill>
                <a:latin typeface="맑은 고딕"/>
              </a:rPr>
              <a:t>└ 인터넷 차단 내부망용 오프라인 앱 (Electron)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82000" y="5670000"/>
            <a:ext cx="3636000" cy="846000"/>
          </a:xfrm>
          <a:prstGeom prst="roundRect">
            <a:avLst/>
          </a:prstGeom>
          <a:solidFill>
            <a:srgbClr val="101B30"/>
          </a:solidFill>
          <a:ln w="12700">
            <a:solidFill>
              <a:srgbClr val="2C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082000" y="5670000"/>
            <a:ext cx="54000" cy="846000"/>
          </a:xfrm>
          <a:prstGeom prst="rect">
            <a:avLst/>
          </a:prstGeom>
          <a:solidFill>
            <a:srgbClr val="C29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08000" y="5724000"/>
            <a:ext cx="3437999" cy="216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🗓 yearlyplanner-ai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08000" y="5950800"/>
            <a:ext cx="3437999" cy="540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ABCD0"/>
                </a:solidFill>
                <a:latin typeface="맑은 고딕"/>
              </a:rPr>
              <a:t>└ 연간 계획 관리 도구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0000" y="6606000"/>
            <a:ext cx="11160000" cy="216000"/>
          </a:xfrm>
          <a:prstGeom prst="rect">
            <a:avLst/>
          </a:prstGeom>
          <a:noFill/>
        </p:spPr>
        <p:txBody>
          <a:bodyPr wrap="square" anchor="t" lIns="28800" rIns="28800" tIns="7200" bIns="72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ADE80"/>
                </a:solidFill>
                <a:latin typeface="맑은 고딕"/>
              </a:rPr>
              <a:t>흐름 한 줄  ·  사진 → parser-photo-server 적재 → orchestrator가 AI로 추출 → calculator가 판정 → 법령 챗봇이 근거 설명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